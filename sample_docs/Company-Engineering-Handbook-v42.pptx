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embeddedFontLst>
    <p:embeddedFont>
      <p:font typeface="Fira Sans"/>
      <p:regular r:id="rId201314"/>
    </p:embeddedFont>
    <p:embeddedFont>
      <p:font typeface="Fira Sans SemiBold"/>
      <p:regular r:id="rId201315"/>
    </p:embeddedFont>
    <p:embeddedFont>
      <p:font typeface="Fira Sans Bold"/>
      <p:regular r:id="rId201316"/>
    </p:embeddedFont>
    <p:embeddedFont>
      <p:font typeface="Fira Sans Black"/>
      <p:regular r:id="rId201317"/>
    </p:embeddedFont>
    <p:embeddedFont>
      <p:font typeface="Inconsolata"/>
      <p:regular r:id="rId201318"/>
    </p:embeddedFont>
    <p:embeddedFont>
      <p:font typeface="Inconsolata Black"/>
      <p:regular r:id="rId201319"/>
    </p:embeddedFont>
    <p:embeddedFont>
      <p:font typeface="Inconsolata SemiBold"/>
      <p:regular r:id="rId201320"/>
    </p:embeddedFont>
    <p:embeddedFont>
      <p:font typeface="Inconsolata Bold"/>
      <p:regular r:id="rId2013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0C17"/>
          </a:solidFill>
          <a:ln/>
        </p:spPr>
      </p:sp>
      <p:sp>
        <p:nvSpPr>
          <p:cNvPr id="3" name="Shape 1"/>
          <p:cNvSpPr/>
          <p:nvPr/>
        </p:nvSpPr>
        <p:spPr>
          <a:xfrm>
            <a:off x="0" y="0"/>
            <a:ext cx="12191695" cy="6858000"/>
          </a:xfrm>
          <a:prstGeom prst="rect">
            <a:avLst/>
          </a:prstGeom>
          <a:solidFill>
            <a:srgbClr val="241631"/>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4.png"/><Relationship Id="rId5" Type="http://schemas.openxmlformats.org/officeDocument/2006/relationships/image" Target="../media/image-6-5.svg"/><Relationship Id="rId6" Type="http://schemas.openxmlformats.org/officeDocument/2006/relationships/image" Target="../media/image-6-6.png"/><Relationship Id="rId7" Type="http://schemas.openxmlformats.org/officeDocument/2006/relationships/image" Target="../media/image-6-7.sv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545358"/>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F94CAF"/>
                </a:solidFill>
                <a:latin typeface="Inconsolata Bold" pitchFamily="34" charset="0"/>
                <a:ea typeface="Inconsolata Bold" pitchFamily="34" charset="-122"/>
                <a:cs typeface="Inconsolata Bold" pitchFamily="34" charset="-120"/>
              </a:rPr>
              <a:t>Company Engineering Handbook v4.2</a:t>
            </a:r>
            <a:endParaRPr lang="en-US" sz="3700" dirty="0"/>
          </a:p>
        </p:txBody>
      </p:sp>
      <p:sp>
        <p:nvSpPr>
          <p:cNvPr id="4" name="Text 1"/>
          <p:cNvSpPr/>
          <p:nvPr/>
        </p:nvSpPr>
        <p:spPr>
          <a:xfrm>
            <a:off x="5233360" y="4010124"/>
            <a:ext cx="6906444" cy="302419"/>
          </a:xfrm>
          <a:prstGeom prst="rect">
            <a:avLst/>
          </a:prstGeom>
          <a:noFill/>
          <a:ln/>
        </p:spPr>
        <p:txBody>
          <a:bodyPr wrap="none" lIns="0" tIns="0" rIns="0" bIns="0" rtlCol="0" anchor="t"/>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Last Updated: August 2026</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51596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F94CAF"/>
                </a:solidFill>
                <a:latin typeface="Inconsolata Bold" pitchFamily="34" charset="0"/>
                <a:ea typeface="Inconsolata Bold" pitchFamily="34" charset="-122"/>
                <a:cs typeface="Inconsolata Bold" pitchFamily="34" charset="-120"/>
              </a:rPr>
              <a:t>1. Deployment &amp; Release Management</a:t>
            </a:r>
            <a:endParaRPr lang="en-US" sz="3700" dirty="0"/>
          </a:p>
        </p:txBody>
      </p:sp>
      <p:sp>
        <p:nvSpPr>
          <p:cNvPr id="3" name="Text 1"/>
          <p:cNvSpPr/>
          <p:nvPr/>
        </p:nvSpPr>
        <p:spPr>
          <a:xfrm>
            <a:off x="661475" y="2484636"/>
            <a:ext cx="10868745" cy="2857302"/>
          </a:xfrm>
          <a:prstGeom prst="rect">
            <a:avLst/>
          </a:prstGeom>
          <a:noFill/>
          <a:ln/>
        </p:spPr>
        <p:txBody>
          <a:bodyPr wrap="square" lIns="0" tIns="0" rIns="0" bIns="0" rtlCol="0" anchor="t">
            <a:normAutofit/>
          </a:bodyPr>
          <a:lstStyle/>
          <a:p>
            <a:pPr algn="l" indent="0" marL="0">
              <a:lnSpc>
                <a:spcPct val="133000"/>
              </a:lnSpc>
              <a:spcAft>
                <a:spcPts val="1650"/>
              </a:spcAft>
              <a:buNone/>
            </a:pPr>
            <a:r>
              <a:rPr lang="en-US" sz="1450" dirty="0">
                <a:solidFill>
                  <a:srgbClr val="DAD1E6"/>
                </a:solidFill>
                <a:latin typeface="Fira Sans" pitchFamily="34" charset="0"/>
                <a:ea typeface="Fira Sans" pitchFamily="34" charset="-122"/>
                <a:cs typeface="Fira Sans" pitchFamily="34" charset="-120"/>
              </a:rPr>
              <a:t>All production services follow a blue-green deployment strategy. New releases are deployed to the green environment first, where they undergo automated smoke testing for 15 minutes before traffic is shifted. If error rates exceed 2% during the smoke test window, an automatic rollback is triggered without human intervention.</a:t>
            </a:r>
            <a:endParaRPr lang="en-US" sz="1450" dirty="0"/>
          </a:p>
          <a:p>
            <a:pPr algn="l" indent="0" marL="0">
              <a:lnSpc>
                <a:spcPct val="133000"/>
              </a:lnSpc>
              <a:spcAft>
                <a:spcPts val="1650"/>
              </a:spcAft>
              <a:buNone/>
            </a:pPr>
            <a:r>
              <a:rPr lang="en-US" sz="1450" dirty="0">
                <a:solidFill>
                  <a:srgbClr val="DAD1E6"/>
                </a:solidFill>
                <a:latin typeface="Fira Sans" pitchFamily="34" charset="0"/>
                <a:ea typeface="Fira Sans" pitchFamily="34" charset="-122"/>
                <a:cs typeface="Fira Sans" pitchFamily="34" charset="-120"/>
              </a:rPr>
              <a:t>Deployments are scheduled during the maintenance window (Tuesday and Thursday, 02:00-04:00 UTC). Emergency hotfixes may be deployed outside this window with approval from the Engineering Director and on-call SRE.</a:t>
            </a:r>
            <a:endParaRPr lang="en-US" sz="1450" dirty="0"/>
          </a:p>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Every service must expose a </a:t>
            </a:r>
            <a:pPr algn="l" indent="0" marL="0">
              <a:lnSpc>
                <a:spcPct val="133000"/>
              </a:lnSpc>
              <a:buNone/>
            </a:pPr>
            <a:r>
              <a:rPr lang="en-US" sz="1450" dirty="0">
                <a:solidFill>
                  <a:srgbClr val="DAD1E6"/>
                </a:solidFill>
                <a:highlight>
                  <a:srgbClr val="31233E"/>
                </a:highlight>
                <a:latin typeface="Consolas" pitchFamily="34" charset="0"/>
                <a:ea typeface="Consolas" pitchFamily="34" charset="-122"/>
                <a:cs typeface="Consolas" pitchFamily="34" charset="-120"/>
              </a:rPr>
              <a:t>/health</a:t>
            </a:r>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 endpoint that returns HTTP 200 within 500ms. The health check must verify database connectivity, cache availability, and downstream service reachability. A degraded health check (HTTP 503) should be returned when any non-critical dependency is unavailable.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81421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F94CAF"/>
                </a:solidFill>
                <a:latin typeface="Inconsolata Bold" pitchFamily="34" charset="0"/>
                <a:ea typeface="Inconsolata Bold" pitchFamily="34" charset="-122"/>
                <a:cs typeface="Inconsolata Bold" pitchFamily="34" charset="-120"/>
              </a:rPr>
              <a:t>1. Code Review Standards</a:t>
            </a:r>
            <a:endParaRPr lang="en-US" sz="3700" dirty="0"/>
          </a:p>
        </p:txBody>
      </p:sp>
      <p:sp>
        <p:nvSpPr>
          <p:cNvPr id="3" name="Shape 1"/>
          <p:cNvSpPr/>
          <p:nvPr/>
        </p:nvSpPr>
        <p:spPr>
          <a:xfrm>
            <a:off x="525350" y="2688332"/>
            <a:ext cx="5476043" cy="2355453"/>
          </a:xfrm>
          <a:prstGeom prst="roundRect">
            <a:avLst>
              <a:gd name="adj" fmla="val 1204"/>
            </a:avLst>
          </a:prstGeom>
          <a:solidFill>
            <a:srgbClr val="F94CAF"/>
          </a:solidFill>
          <a:ln/>
        </p:spPr>
      </p:sp>
      <p:sp>
        <p:nvSpPr>
          <p:cNvPr id="4" name="Text 2"/>
          <p:cNvSpPr/>
          <p:nvPr/>
        </p:nvSpPr>
        <p:spPr>
          <a:xfrm>
            <a:off x="714357" y="2877344"/>
            <a:ext cx="5098029" cy="295275"/>
          </a:xfrm>
          <a:prstGeom prst="rect">
            <a:avLst/>
          </a:prstGeom>
          <a:noFill/>
          <a:ln/>
        </p:spPr>
        <p:txBody>
          <a:bodyPr wrap="none" lIns="0" tIns="0" rIns="0" bIns="0" rtlCol="0" anchor="t"/>
          <a:lstStyle/>
          <a:p>
            <a:pPr algn="l" indent="0" marL="0">
              <a:lnSpc>
                <a:spcPct val="104000"/>
              </a:lnSpc>
              <a:buNone/>
            </a:pPr>
            <a:r>
              <a:rPr lang="en-US" sz="1850" b="1" dirty="0">
                <a:solidFill>
                  <a:srgbClr val="000000"/>
                </a:solidFill>
                <a:latin typeface="Inconsolata Bold" pitchFamily="34" charset="0"/>
                <a:ea typeface="Inconsolata Bold" pitchFamily="34" charset="-122"/>
                <a:cs typeface="Inconsolata Bold" pitchFamily="34" charset="-120"/>
              </a:rPr>
              <a:t>Approval Requirements</a:t>
            </a:r>
            <a:endParaRPr lang="en-US" sz="1850" dirty="0"/>
          </a:p>
        </p:txBody>
      </p:sp>
      <p:sp>
        <p:nvSpPr>
          <p:cNvPr id="5" name="Text 3"/>
          <p:cNvSpPr/>
          <p:nvPr/>
        </p:nvSpPr>
        <p:spPr>
          <a:xfrm>
            <a:off x="714357" y="3361630"/>
            <a:ext cx="50980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0000"/>
                </a:solidFill>
                <a:latin typeface="Fira Sans" pitchFamily="34" charset="0"/>
                <a:ea typeface="Fira Sans" pitchFamily="34" charset="-122"/>
                <a:cs typeface="Fira Sans" pitchFamily="34" charset="-120"/>
              </a:rPr>
              <a:t>All code changes require at least two approvals before merging: one from a peer engineer and one from a tech lead or senior engineer. The reviewer must verify correctness, test coverage, security implications, and adherence to coding standards.</a:t>
            </a:r>
            <a:endParaRPr lang="en-US" sz="1450" dirty="0"/>
          </a:p>
        </p:txBody>
      </p:sp>
      <p:sp>
        <p:nvSpPr>
          <p:cNvPr id="6" name="Text 4"/>
          <p:cNvSpPr/>
          <p:nvPr/>
        </p:nvSpPr>
        <p:spPr>
          <a:xfrm>
            <a:off x="6332776" y="2877344"/>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F94CAF"/>
                </a:solidFill>
                <a:latin typeface="Inconsolata Bold" pitchFamily="34" charset="0"/>
                <a:ea typeface="Inconsolata Bold" pitchFamily="34" charset="-122"/>
                <a:cs typeface="Inconsolata Bold" pitchFamily="34" charset="-120"/>
              </a:rPr>
              <a:t>Pull Request Requirements</a:t>
            </a:r>
            <a:endParaRPr lang="en-US" sz="1850" dirty="0"/>
          </a:p>
        </p:txBody>
      </p:sp>
      <p:sp>
        <p:nvSpPr>
          <p:cNvPr id="7" name="Text 5"/>
          <p:cNvSpPr/>
          <p:nvPr/>
        </p:nvSpPr>
        <p:spPr>
          <a:xfrm>
            <a:off x="6332776" y="3361630"/>
            <a:ext cx="5203794"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Pull requests must include a clear description of the change, link to the relevant ticket, and screenshots or logs demonstrating the change works as expected. Automated CI checks (linting, unit tests, integration tests) must pass before review can begin.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F94CAF"/>
                </a:solidFill>
                <a:latin typeface="Inconsolata Bold" pitchFamily="34" charset="0"/>
                <a:ea typeface="Inconsolata Bold" pitchFamily="34" charset="-122"/>
                <a:cs typeface="Inconsolata Bold" pitchFamily="34" charset="-120"/>
              </a:rPr>
              <a:t>1. Branching Strategy</a:t>
            </a:r>
            <a:endParaRPr lang="en-US" sz="1850" dirty="0"/>
          </a:p>
        </p:txBody>
      </p:sp>
      <p:sp>
        <p:nvSpPr>
          <p:cNvPr id="3" name="Text 1"/>
          <p:cNvSpPr/>
          <p:nvPr/>
        </p:nvSpPr>
        <p:spPr>
          <a:xfrm>
            <a:off x="661475" y="909538"/>
            <a:ext cx="10868745" cy="279896"/>
          </a:xfrm>
          <a:prstGeom prst="rect">
            <a:avLst/>
          </a:prstGeom>
          <a:noFill/>
          <a:ln/>
        </p:spPr>
        <p:txBody>
          <a:bodyPr wrap="square" lIns="0" tIns="0" rIns="0" bIns="0" rtlCol="0" anchor="t"/>
          <a:lstStyle/>
          <a:p>
            <a:pPr algn="l" indent="0" marL="0">
              <a:lnSpc>
                <a:spcPct val="100000"/>
              </a:lnSpc>
              <a:spcAft>
                <a:spcPts val="400"/>
              </a:spcAft>
              <a:buNone/>
            </a:pPr>
            <a:r>
              <a:rPr lang="en-US" sz="700" dirty="0">
                <a:solidFill>
                  <a:srgbClr val="DAD1E6"/>
                </a:solidFill>
                <a:latin typeface="Fira Sans" pitchFamily="34" charset="0"/>
                <a:ea typeface="Fira Sans" pitchFamily="34" charset="-122"/>
                <a:cs typeface="Fira Sans" pitchFamily="34" charset="-120"/>
              </a:rPr>
              <a:t>We follow a trunk-based development model. Feature branches should be short-lived (maximum 3 business days). Long-running features are broken into incremental PRs that can be merged safely.</a:t>
            </a:r>
            <a:endParaRPr lang="en-US" sz="700" dirty="0"/>
          </a:p>
          <a:p>
            <a:pPr algn="l" indent="0" marL="0">
              <a:lnSpc>
                <a:spcPct val="100000"/>
              </a:lnSpc>
              <a:buNone/>
            </a:pPr>
            <a:r>
              <a:rPr lang="en-US" sz="700" dirty="0">
                <a:solidFill>
                  <a:srgbClr val="DAD1E6"/>
                </a:solidFill>
                <a:latin typeface="Fira Sans" pitchFamily="34" charset="0"/>
                <a:ea typeface="Fira Sans" pitchFamily="34" charset="-122"/>
                <a:cs typeface="Fira Sans" pitchFamily="34" charset="-120"/>
              </a:rPr>
              <a:t>Release branches are created from main only when preparing for a major release. Hotfixes are applied directly to the release branch and cherry-picked back to main.</a:t>
            </a:r>
            <a:endParaRPr lang="en-US" sz="700" dirty="0"/>
          </a:p>
        </p:txBody>
      </p:sp>
      <p:pic>
        <p:nvPicPr>
          <p:cNvPr id="4" name="Image 0" descr="preencoded.png">    </p:cNvPr>
          <p:cNvPicPr>
            <a:picLocks noChangeAspect="1"/>
          </p:cNvPicPr>
          <p:nvPr/>
        </p:nvPicPr>
        <p:blipFill>
          <a:blip r:embed="rId1"/>
          <a:stretch>
            <a:fillRect/>
          </a:stretch>
        </p:blipFill>
        <p:spPr>
          <a:xfrm>
            <a:off x="749281" y="1242516"/>
            <a:ext cx="10693033" cy="6052245"/>
          </a:xfrm>
          <a:prstGeom prst="rect">
            <a:avLst/>
          </a:prstGeom>
        </p:spPr>
      </p:pic>
      <p:sp>
        <p:nvSpPr>
          <p:cNvPr id="5" name="Text 2"/>
          <p:cNvSpPr/>
          <p:nvPr/>
        </p:nvSpPr>
        <p:spPr>
          <a:xfrm>
            <a:off x="7437948" y="2416169"/>
            <a:ext cx="2445444" cy="305688"/>
          </a:xfrm>
          <a:prstGeom prst="rect">
            <a:avLst/>
          </a:prstGeom>
          <a:noFill/>
          <a:ln/>
        </p:spPr>
        <p:txBody>
          <a:bodyPr wrap="none" lIns="0" tIns="0" rIns="0" bIns="0" rtlCol="0" anchor="t"/>
          <a:lstStyle/>
          <a:p>
            <a:pPr algn="l" indent="0" marL="0">
              <a:lnSpc>
                <a:spcPct val="104000"/>
              </a:lnSpc>
              <a:buNone/>
            </a:pPr>
            <a:r>
              <a:rPr lang="en-US" sz="1900" b="1" dirty="0">
                <a:solidFill>
                  <a:srgbClr val="DAD1E6"/>
                </a:solidFill>
                <a:latin typeface="Inconsolata Bold" pitchFamily="34" charset="0"/>
                <a:ea typeface="Inconsolata Bold" pitchFamily="34" charset="-122"/>
                <a:cs typeface="Inconsolata Bold" pitchFamily="34" charset="-120"/>
              </a:rPr>
              <a:t>Feature Branch</a:t>
            </a:r>
            <a:endParaRPr lang="en-US" sz="1900" dirty="0"/>
          </a:p>
        </p:txBody>
      </p:sp>
      <p:sp>
        <p:nvSpPr>
          <p:cNvPr id="6" name="Text 3"/>
          <p:cNvSpPr/>
          <p:nvPr/>
        </p:nvSpPr>
        <p:spPr>
          <a:xfrm>
            <a:off x="7437948" y="2808808"/>
            <a:ext cx="3749680" cy="183413"/>
          </a:xfrm>
          <a:prstGeom prst="rect">
            <a:avLst/>
          </a:prstGeom>
          <a:noFill/>
          <a:ln/>
        </p:spPr>
        <p:txBody>
          <a:bodyPr wrap="none" lIns="0" tIns="0" rIns="0" bIns="0" rtlCol="0" anchor="t"/>
          <a:lstStyle/>
          <a:p>
            <a:pPr algn="l" indent="0" marL="0">
              <a:lnSpc>
                <a:spcPct val="78000"/>
              </a:lnSpc>
              <a:buNone/>
            </a:pPr>
            <a:r>
              <a:rPr lang="en-US" sz="1500" dirty="0">
                <a:solidFill>
                  <a:srgbClr val="DAD1E6"/>
                </a:solidFill>
                <a:latin typeface="Fira Sans" pitchFamily="34" charset="0"/>
                <a:ea typeface="Fira Sans" pitchFamily="34" charset="-122"/>
                <a:cs typeface="Fira Sans" pitchFamily="34" charset="-120"/>
              </a:rPr>
              <a:t>Short-lived (max 3 days); incremental PRs.</a:t>
            </a:r>
            <a:endParaRPr lang="en-US" sz="1500" dirty="0"/>
          </a:p>
        </p:txBody>
      </p:sp>
      <p:sp>
        <p:nvSpPr>
          <p:cNvPr id="7" name="Text 4"/>
          <p:cNvSpPr/>
          <p:nvPr/>
        </p:nvSpPr>
        <p:spPr>
          <a:xfrm>
            <a:off x="2307950" y="3611749"/>
            <a:ext cx="2445444" cy="305688"/>
          </a:xfrm>
          <a:prstGeom prst="rect">
            <a:avLst/>
          </a:prstGeom>
          <a:noFill/>
          <a:ln/>
        </p:spPr>
        <p:txBody>
          <a:bodyPr wrap="none" lIns="0" tIns="0" rIns="0" bIns="0" rtlCol="0" anchor="t"/>
          <a:lstStyle/>
          <a:p>
            <a:pPr algn="r" indent="0" marL="0">
              <a:lnSpc>
                <a:spcPct val="104000"/>
              </a:lnSpc>
              <a:buNone/>
            </a:pPr>
            <a:r>
              <a:rPr lang="en-US" sz="1900" b="1" dirty="0">
                <a:solidFill>
                  <a:srgbClr val="DAD1E6"/>
                </a:solidFill>
                <a:latin typeface="Inconsolata Bold" pitchFamily="34" charset="0"/>
                <a:ea typeface="Inconsolata Bold" pitchFamily="34" charset="-122"/>
                <a:cs typeface="Inconsolata Bold" pitchFamily="34" charset="-120"/>
              </a:rPr>
              <a:t>Trunk / Main</a:t>
            </a:r>
            <a:endParaRPr lang="en-US" sz="1900" dirty="0"/>
          </a:p>
        </p:txBody>
      </p:sp>
      <p:sp>
        <p:nvSpPr>
          <p:cNvPr id="8" name="Text 5"/>
          <p:cNvSpPr/>
          <p:nvPr/>
        </p:nvSpPr>
        <p:spPr>
          <a:xfrm>
            <a:off x="1003713" y="4004388"/>
            <a:ext cx="3749680" cy="366826"/>
          </a:xfrm>
          <a:prstGeom prst="rect">
            <a:avLst/>
          </a:prstGeom>
          <a:noFill/>
          <a:ln/>
        </p:spPr>
        <p:txBody>
          <a:bodyPr wrap="square" lIns="0" tIns="0" rIns="0" bIns="0" rtlCol="0" anchor="t">
            <a:normAutofit/>
          </a:bodyPr>
          <a:lstStyle/>
          <a:p>
            <a:pPr algn="r" indent="0" marL="0">
              <a:lnSpc>
                <a:spcPct val="78000"/>
              </a:lnSpc>
              <a:buNone/>
            </a:pPr>
            <a:r>
              <a:rPr lang="en-US" sz="1500" dirty="0">
                <a:solidFill>
                  <a:srgbClr val="DAD1E6"/>
                </a:solidFill>
                <a:latin typeface="Fira Sans" pitchFamily="34" charset="0"/>
                <a:ea typeface="Fira Sans" pitchFamily="34" charset="-122"/>
                <a:cs typeface="Fira Sans" pitchFamily="34" charset="-120"/>
              </a:rPr>
              <a:t>Continuous integration; merge small changes frequently.</a:t>
            </a:r>
            <a:endParaRPr lang="en-US" sz="1500" dirty="0"/>
          </a:p>
        </p:txBody>
      </p:sp>
      <p:sp>
        <p:nvSpPr>
          <p:cNvPr id="9" name="Text 6"/>
          <p:cNvSpPr/>
          <p:nvPr/>
        </p:nvSpPr>
        <p:spPr>
          <a:xfrm>
            <a:off x="7437948" y="4818198"/>
            <a:ext cx="2445444" cy="305688"/>
          </a:xfrm>
          <a:prstGeom prst="rect">
            <a:avLst/>
          </a:prstGeom>
          <a:noFill/>
          <a:ln/>
        </p:spPr>
        <p:txBody>
          <a:bodyPr wrap="none" lIns="0" tIns="0" rIns="0" bIns="0" rtlCol="0" anchor="t"/>
          <a:lstStyle/>
          <a:p>
            <a:pPr algn="l" indent="0" marL="0">
              <a:lnSpc>
                <a:spcPct val="104000"/>
              </a:lnSpc>
              <a:buNone/>
            </a:pPr>
            <a:r>
              <a:rPr lang="en-US" sz="1900" b="1" dirty="0">
                <a:solidFill>
                  <a:srgbClr val="DAD1E6"/>
                </a:solidFill>
                <a:latin typeface="Inconsolata Bold" pitchFamily="34" charset="0"/>
                <a:ea typeface="Inconsolata Bold" pitchFamily="34" charset="-122"/>
                <a:cs typeface="Inconsolata Bold" pitchFamily="34" charset="-120"/>
              </a:rPr>
              <a:t>Release Branch</a:t>
            </a:r>
            <a:endParaRPr lang="en-US" sz="1900" dirty="0"/>
          </a:p>
        </p:txBody>
      </p:sp>
      <p:sp>
        <p:nvSpPr>
          <p:cNvPr id="10" name="Text 7"/>
          <p:cNvSpPr/>
          <p:nvPr/>
        </p:nvSpPr>
        <p:spPr>
          <a:xfrm>
            <a:off x="7437948" y="5210837"/>
            <a:ext cx="3749680" cy="366826"/>
          </a:xfrm>
          <a:prstGeom prst="rect">
            <a:avLst/>
          </a:prstGeom>
          <a:noFill/>
          <a:ln/>
        </p:spPr>
        <p:txBody>
          <a:bodyPr wrap="square" lIns="0" tIns="0" rIns="0" bIns="0" rtlCol="0" anchor="t">
            <a:normAutofit/>
          </a:bodyPr>
          <a:lstStyle/>
          <a:p>
            <a:pPr algn="l" indent="0" marL="0">
              <a:lnSpc>
                <a:spcPct val="78000"/>
              </a:lnSpc>
              <a:buNone/>
            </a:pPr>
            <a:r>
              <a:rPr lang="en-US" sz="1500" dirty="0">
                <a:solidFill>
                  <a:srgbClr val="DAD1E6"/>
                </a:solidFill>
                <a:latin typeface="Fira Sans" pitchFamily="34" charset="0"/>
                <a:ea typeface="Fira Sans" pitchFamily="34" charset="-122"/>
                <a:cs typeface="Fira Sans" pitchFamily="34" charset="-120"/>
              </a:rPr>
              <a:t>For major releases and hotfixes; cherry-pick fixes back.</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27555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F94CAF"/>
                </a:solidFill>
                <a:latin typeface="Inconsolata Bold" pitchFamily="34" charset="0"/>
                <a:ea typeface="Inconsolata Bold" pitchFamily="34" charset="-122"/>
                <a:cs typeface="Inconsolata Bold" pitchFamily="34" charset="-120"/>
              </a:rPr>
              <a:t>1. On-Call Rotation</a:t>
            </a:r>
            <a:endParaRPr lang="en-US" sz="3700" dirty="0"/>
          </a:p>
        </p:txBody>
      </p:sp>
      <p:sp>
        <p:nvSpPr>
          <p:cNvPr id="3" name="Text 1"/>
          <p:cNvSpPr/>
          <p:nvPr/>
        </p:nvSpPr>
        <p:spPr>
          <a:xfrm>
            <a:off x="661475" y="2244229"/>
            <a:ext cx="10868745"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Each team maintains a 24/7 on-call rotation with primary and secondary responders. The primary on-call engineer must respond to pages within 5 minutes during business hours and 15 minutes outside business hours.</a:t>
            </a:r>
            <a:endParaRPr lang="en-US" sz="1450" dirty="0"/>
          </a:p>
        </p:txBody>
      </p:sp>
      <p:sp>
        <p:nvSpPr>
          <p:cNvPr id="4" name="Text 2"/>
          <p:cNvSpPr/>
          <p:nvPr/>
        </p:nvSpPr>
        <p:spPr>
          <a:xfrm>
            <a:off x="661475" y="3132534"/>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F94CAF"/>
                </a:solidFill>
                <a:latin typeface="Inconsolata Bold" pitchFamily="34" charset="0"/>
                <a:ea typeface="Inconsolata Bold" pitchFamily="34" charset="-122"/>
                <a:cs typeface="Inconsolata Bold" pitchFamily="34" charset="-120"/>
              </a:rPr>
              <a:t>Incident Severity Levels</a:t>
            </a:r>
            <a:endParaRPr lang="en-US" sz="2950" dirty="0"/>
          </a:p>
        </p:txBody>
      </p:sp>
      <p:sp>
        <p:nvSpPr>
          <p:cNvPr id="5" name="Shape 3"/>
          <p:cNvSpPr/>
          <p:nvPr/>
        </p:nvSpPr>
        <p:spPr>
          <a:xfrm>
            <a:off x="661475" y="3888482"/>
            <a:ext cx="3496877" cy="1693962"/>
          </a:xfrm>
          <a:prstGeom prst="roundRect">
            <a:avLst>
              <a:gd name="adj" fmla="val 1674"/>
            </a:avLst>
          </a:prstGeom>
          <a:solidFill>
            <a:srgbClr val="433550"/>
          </a:solidFill>
          <a:ln/>
        </p:spPr>
      </p:sp>
      <p:sp>
        <p:nvSpPr>
          <p:cNvPr id="6" name="Text 4"/>
          <p:cNvSpPr/>
          <p:nvPr/>
        </p:nvSpPr>
        <p:spPr>
          <a:xfrm>
            <a:off x="850482" y="4077494"/>
            <a:ext cx="3118863" cy="295275"/>
          </a:xfrm>
          <a:prstGeom prst="rect">
            <a:avLst/>
          </a:prstGeom>
          <a:noFill/>
          <a:ln/>
        </p:spPr>
        <p:txBody>
          <a:bodyPr wrap="none" lIns="0" tIns="0" rIns="0" bIns="0" rtlCol="0" anchor="t"/>
          <a:lstStyle/>
          <a:p>
            <a:pPr algn="l" indent="0" marL="0">
              <a:lnSpc>
                <a:spcPct val="104000"/>
              </a:lnSpc>
              <a:buNone/>
            </a:pPr>
            <a:r>
              <a:rPr lang="en-US" sz="1850" b="1" dirty="0">
                <a:solidFill>
                  <a:srgbClr val="DAD1E6"/>
                </a:solidFill>
                <a:latin typeface="Inconsolata Bold" pitchFamily="34" charset="0"/>
                <a:ea typeface="Inconsolata Bold" pitchFamily="34" charset="-122"/>
                <a:cs typeface="Inconsolata Bold" pitchFamily="34" charset="-120"/>
              </a:rPr>
              <a:t>SEV1</a:t>
            </a:r>
            <a:endParaRPr lang="en-US" sz="1850" dirty="0"/>
          </a:p>
        </p:txBody>
      </p:sp>
      <p:sp>
        <p:nvSpPr>
          <p:cNvPr id="7" name="Text 5"/>
          <p:cNvSpPr/>
          <p:nvPr/>
        </p:nvSpPr>
        <p:spPr>
          <a:xfrm>
            <a:off x="850482" y="4486176"/>
            <a:ext cx="311886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Complete service outage affecting all users. Response time: 5 minutes.</a:t>
            </a:r>
            <a:endParaRPr lang="en-US" sz="1450" dirty="0"/>
          </a:p>
        </p:txBody>
      </p:sp>
      <p:sp>
        <p:nvSpPr>
          <p:cNvPr id="8" name="Shape 6"/>
          <p:cNvSpPr/>
          <p:nvPr/>
        </p:nvSpPr>
        <p:spPr>
          <a:xfrm>
            <a:off x="4347359" y="3888482"/>
            <a:ext cx="3496877" cy="1693962"/>
          </a:xfrm>
          <a:prstGeom prst="roundRect">
            <a:avLst>
              <a:gd name="adj" fmla="val 1674"/>
            </a:avLst>
          </a:prstGeom>
          <a:solidFill>
            <a:srgbClr val="433550"/>
          </a:solidFill>
          <a:ln/>
        </p:spPr>
      </p:sp>
      <p:sp>
        <p:nvSpPr>
          <p:cNvPr id="9" name="Text 7"/>
          <p:cNvSpPr/>
          <p:nvPr/>
        </p:nvSpPr>
        <p:spPr>
          <a:xfrm>
            <a:off x="4536366" y="4077494"/>
            <a:ext cx="3118863" cy="295275"/>
          </a:xfrm>
          <a:prstGeom prst="rect">
            <a:avLst/>
          </a:prstGeom>
          <a:noFill/>
          <a:ln/>
        </p:spPr>
        <p:txBody>
          <a:bodyPr wrap="none" lIns="0" tIns="0" rIns="0" bIns="0" rtlCol="0" anchor="t"/>
          <a:lstStyle/>
          <a:p>
            <a:pPr algn="l" indent="0" marL="0">
              <a:lnSpc>
                <a:spcPct val="104000"/>
              </a:lnSpc>
              <a:buNone/>
            </a:pPr>
            <a:r>
              <a:rPr lang="en-US" sz="1850" b="1" dirty="0">
                <a:solidFill>
                  <a:srgbClr val="DAD1E6"/>
                </a:solidFill>
                <a:latin typeface="Inconsolata Bold" pitchFamily="34" charset="0"/>
                <a:ea typeface="Inconsolata Bold" pitchFamily="34" charset="-122"/>
                <a:cs typeface="Inconsolata Bold" pitchFamily="34" charset="-120"/>
              </a:rPr>
              <a:t>SEV2</a:t>
            </a:r>
            <a:endParaRPr lang="en-US" sz="1850" dirty="0"/>
          </a:p>
        </p:txBody>
      </p:sp>
      <p:sp>
        <p:nvSpPr>
          <p:cNvPr id="10" name="Text 8"/>
          <p:cNvSpPr/>
          <p:nvPr/>
        </p:nvSpPr>
        <p:spPr>
          <a:xfrm>
            <a:off x="4536366" y="4486176"/>
            <a:ext cx="3118863"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Partial outage or significant degradation. Response time: 15 minutes.</a:t>
            </a:r>
            <a:endParaRPr lang="en-US" sz="1450" dirty="0"/>
          </a:p>
        </p:txBody>
      </p:sp>
      <p:sp>
        <p:nvSpPr>
          <p:cNvPr id="11" name="Shape 9"/>
          <p:cNvSpPr/>
          <p:nvPr/>
        </p:nvSpPr>
        <p:spPr>
          <a:xfrm>
            <a:off x="8033244" y="3888482"/>
            <a:ext cx="3496877" cy="1693962"/>
          </a:xfrm>
          <a:prstGeom prst="roundRect">
            <a:avLst>
              <a:gd name="adj" fmla="val 1674"/>
            </a:avLst>
          </a:prstGeom>
          <a:solidFill>
            <a:srgbClr val="433550"/>
          </a:solidFill>
          <a:ln/>
        </p:spPr>
      </p:sp>
      <p:sp>
        <p:nvSpPr>
          <p:cNvPr id="12" name="Text 10"/>
          <p:cNvSpPr/>
          <p:nvPr/>
        </p:nvSpPr>
        <p:spPr>
          <a:xfrm>
            <a:off x="8222251" y="4077494"/>
            <a:ext cx="3118863" cy="295275"/>
          </a:xfrm>
          <a:prstGeom prst="rect">
            <a:avLst/>
          </a:prstGeom>
          <a:noFill/>
          <a:ln/>
        </p:spPr>
        <p:txBody>
          <a:bodyPr wrap="none" lIns="0" tIns="0" rIns="0" bIns="0" rtlCol="0" anchor="t"/>
          <a:lstStyle/>
          <a:p>
            <a:pPr algn="l" indent="0" marL="0">
              <a:lnSpc>
                <a:spcPct val="104000"/>
              </a:lnSpc>
              <a:buNone/>
            </a:pPr>
            <a:r>
              <a:rPr lang="en-US" sz="1850" b="1" dirty="0">
                <a:solidFill>
                  <a:srgbClr val="DAD1E6"/>
                </a:solidFill>
                <a:latin typeface="Inconsolata Bold" pitchFamily="34" charset="0"/>
                <a:ea typeface="Inconsolata Bold" pitchFamily="34" charset="-122"/>
                <a:cs typeface="Inconsolata Bold" pitchFamily="34" charset="-120"/>
              </a:rPr>
              <a:t>SEV3</a:t>
            </a:r>
            <a:endParaRPr lang="en-US" sz="1850" dirty="0"/>
          </a:p>
        </p:txBody>
      </p:sp>
      <p:sp>
        <p:nvSpPr>
          <p:cNvPr id="13" name="Text 11"/>
          <p:cNvSpPr/>
          <p:nvPr/>
        </p:nvSpPr>
        <p:spPr>
          <a:xfrm>
            <a:off x="8222251" y="4486176"/>
            <a:ext cx="311886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Minor issues with workarounds available. Response time: 1 hour.</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33202"/>
            <a:ext cx="6296860" cy="479921"/>
          </a:xfrm>
          <a:prstGeom prst="rect">
            <a:avLst/>
          </a:prstGeom>
          <a:noFill/>
          <a:ln/>
        </p:spPr>
        <p:txBody>
          <a:bodyPr wrap="none" lIns="0" tIns="0" rIns="0" bIns="0" rtlCol="0" anchor="t"/>
          <a:lstStyle/>
          <a:p>
            <a:pPr algn="l" indent="0" marL="0">
              <a:lnSpc>
                <a:spcPct val="104000"/>
              </a:lnSpc>
              <a:buNone/>
            </a:pPr>
            <a:r>
              <a:rPr lang="en-US" sz="3000" b="1" dirty="0">
                <a:solidFill>
                  <a:srgbClr val="F94CAF"/>
                </a:solidFill>
                <a:latin typeface="Inconsolata Bold" pitchFamily="34" charset="0"/>
                <a:ea typeface="Inconsolata Bold" pitchFamily="34" charset="-122"/>
                <a:cs typeface="Inconsolata Bold" pitchFamily="34" charset="-120"/>
              </a:rPr>
              <a:t>1. Monitoring &amp; Observability</a:t>
            </a:r>
            <a:endParaRPr lang="en-US" sz="3000" dirty="0"/>
          </a:p>
        </p:txBody>
      </p:sp>
      <p:sp>
        <p:nvSpPr>
          <p:cNvPr id="4" name="Text 1"/>
          <p:cNvSpPr/>
          <p:nvPr/>
        </p:nvSpPr>
        <p:spPr>
          <a:xfrm>
            <a:off x="661475" y="1200249"/>
            <a:ext cx="6296860" cy="1253530"/>
          </a:xfrm>
          <a:prstGeom prst="rect">
            <a:avLst/>
          </a:prstGeom>
          <a:noFill/>
          <a:ln/>
        </p:spPr>
        <p:txBody>
          <a:bodyPr wrap="square" lIns="0" tIns="0" rIns="0" bIns="0" rtlCol="0" anchor="t">
            <a:normAutofit/>
          </a:bodyPr>
          <a:lstStyle/>
          <a:p>
            <a:pPr algn="l" indent="0" marL="0">
              <a:lnSpc>
                <a:spcPct val="121000"/>
              </a:lnSpc>
              <a:spcAft>
                <a:spcPts val="1100"/>
              </a:spcAft>
              <a:buNone/>
            </a:pPr>
            <a:r>
              <a:rPr lang="en-US" sz="1200" dirty="0">
                <a:solidFill>
                  <a:srgbClr val="DAD1E6"/>
                </a:solidFill>
                <a:latin typeface="Fira Sans" pitchFamily="34" charset="0"/>
                <a:ea typeface="Fira Sans" pitchFamily="34" charset="-122"/>
                <a:cs typeface="Fira Sans" pitchFamily="34" charset="-120"/>
              </a:rPr>
              <a:t>All services must instrument the three pillars of observability: metrics (Prometheus), logs (structured JSON to ELK), and traces (OpenTelemetry). Custom business metrics must be registered in the team's Grafana dashboard.</a:t>
            </a:r>
            <a:endParaRPr lang="en-US" sz="1200" dirty="0"/>
          </a:p>
          <a:p>
            <a:pPr algn="l" indent="0" marL="0">
              <a:lnSpc>
                <a:spcPct val="121000"/>
              </a:lnSpc>
              <a:buNone/>
            </a:pPr>
            <a:r>
              <a:rPr lang="en-US" sz="1200" dirty="0">
                <a:solidFill>
                  <a:srgbClr val="DAD1E6"/>
                </a:solidFill>
                <a:latin typeface="Fira Sans" pitchFamily="34" charset="0"/>
                <a:ea typeface="Fira Sans" pitchFamily="34" charset="-122"/>
                <a:cs typeface="Fira Sans" pitchFamily="34" charset="-120"/>
              </a:rPr>
              <a:t>Alert fatigue is managed through tiered alerting: warnings trigger Slack notifications, critical alerts trigger PagerDuty pages, and emergency alerts trigger phone calls.</a:t>
            </a:r>
            <a:endParaRPr lang="en-US" sz="1200" dirty="0"/>
          </a:p>
        </p:txBody>
      </p:sp>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594074"/>
            <a:ext cx="383868" cy="383877"/>
          </a:xfrm>
          <a:prstGeom prst="rect">
            <a:avLst/>
          </a:prstGeom>
        </p:spPr>
      </p:pic>
      <p:sp>
        <p:nvSpPr>
          <p:cNvPr id="6" name="Text 2"/>
          <p:cNvSpPr/>
          <p:nvPr/>
        </p:nvSpPr>
        <p:spPr>
          <a:xfrm>
            <a:off x="661475" y="3133923"/>
            <a:ext cx="6296860" cy="239911"/>
          </a:xfrm>
          <a:prstGeom prst="rect">
            <a:avLst/>
          </a:prstGeom>
          <a:noFill/>
          <a:ln/>
        </p:spPr>
        <p:txBody>
          <a:bodyPr wrap="none" lIns="0" tIns="0" rIns="0" bIns="0" rtlCol="0" anchor="t"/>
          <a:lstStyle/>
          <a:p>
            <a:pPr algn="l" indent="0" marL="0">
              <a:lnSpc>
                <a:spcPct val="104000"/>
              </a:lnSpc>
              <a:buNone/>
            </a:pPr>
            <a:r>
              <a:rPr lang="en-US" sz="1500" b="1" dirty="0">
                <a:solidFill>
                  <a:srgbClr val="DAD1E6"/>
                </a:solidFill>
                <a:latin typeface="Inconsolata Bold" pitchFamily="34" charset="0"/>
                <a:ea typeface="Inconsolata Bold" pitchFamily="34" charset="-122"/>
                <a:cs typeface="Inconsolata Bold" pitchFamily="34" charset="-120"/>
              </a:rPr>
              <a:t>Metrics</a:t>
            </a:r>
            <a:endParaRPr lang="en-US" sz="1500" dirty="0"/>
          </a:p>
        </p:txBody>
      </p:sp>
      <p:sp>
        <p:nvSpPr>
          <p:cNvPr id="7" name="Text 3"/>
          <p:cNvSpPr/>
          <p:nvPr/>
        </p:nvSpPr>
        <p:spPr>
          <a:xfrm>
            <a:off x="661475" y="3448645"/>
            <a:ext cx="6296860" cy="222647"/>
          </a:xfrm>
          <a:prstGeom prst="rect">
            <a:avLst/>
          </a:prstGeom>
          <a:noFill/>
          <a:ln/>
        </p:spPr>
        <p:txBody>
          <a:bodyPr wrap="none" lIns="0" tIns="0" rIns="0" bIns="0" rtlCol="0" anchor="t"/>
          <a:lstStyle/>
          <a:p>
            <a:pPr algn="l" indent="0" marL="0">
              <a:lnSpc>
                <a:spcPct val="121000"/>
              </a:lnSpc>
              <a:buNone/>
            </a:pPr>
            <a:r>
              <a:rPr lang="en-US" sz="1200" dirty="0">
                <a:solidFill>
                  <a:srgbClr val="DAD1E6"/>
                </a:solidFill>
                <a:latin typeface="Fira Sans" pitchFamily="34" charset="0"/>
                <a:ea typeface="Fira Sans" pitchFamily="34" charset="-122"/>
                <a:cs typeface="Fira Sans" pitchFamily="34" charset="-120"/>
              </a:rPr>
              <a:t>Prometheus</a:t>
            </a:r>
            <a:endParaRPr lang="en-US" sz="1200" dirty="0"/>
          </a:p>
        </p:txBody>
      </p:sp>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920827"/>
            <a:ext cx="383868" cy="383877"/>
          </a:xfrm>
          <a:prstGeom prst="rect">
            <a:avLst/>
          </a:prstGeom>
        </p:spPr>
      </p:pic>
      <p:sp>
        <p:nvSpPr>
          <p:cNvPr id="9" name="Text 4"/>
          <p:cNvSpPr/>
          <p:nvPr/>
        </p:nvSpPr>
        <p:spPr>
          <a:xfrm>
            <a:off x="661475" y="4460677"/>
            <a:ext cx="6296860" cy="239911"/>
          </a:xfrm>
          <a:prstGeom prst="rect">
            <a:avLst/>
          </a:prstGeom>
          <a:noFill/>
          <a:ln/>
        </p:spPr>
        <p:txBody>
          <a:bodyPr wrap="none" lIns="0" tIns="0" rIns="0" bIns="0" rtlCol="0" anchor="t"/>
          <a:lstStyle/>
          <a:p>
            <a:pPr algn="l" indent="0" marL="0">
              <a:lnSpc>
                <a:spcPct val="104000"/>
              </a:lnSpc>
              <a:buNone/>
            </a:pPr>
            <a:r>
              <a:rPr lang="en-US" sz="1500" b="1" dirty="0">
                <a:solidFill>
                  <a:srgbClr val="DAD1E6"/>
                </a:solidFill>
                <a:latin typeface="Inconsolata Bold" pitchFamily="34" charset="0"/>
                <a:ea typeface="Inconsolata Bold" pitchFamily="34" charset="-122"/>
                <a:cs typeface="Inconsolata Bold" pitchFamily="34" charset="-120"/>
              </a:rPr>
              <a:t>Logs</a:t>
            </a:r>
            <a:endParaRPr lang="en-US" sz="1500" dirty="0"/>
          </a:p>
        </p:txBody>
      </p:sp>
      <p:sp>
        <p:nvSpPr>
          <p:cNvPr id="10" name="Text 5"/>
          <p:cNvSpPr/>
          <p:nvPr/>
        </p:nvSpPr>
        <p:spPr>
          <a:xfrm>
            <a:off x="661475" y="4775398"/>
            <a:ext cx="6296860" cy="222647"/>
          </a:xfrm>
          <a:prstGeom prst="rect">
            <a:avLst/>
          </a:prstGeom>
          <a:noFill/>
          <a:ln/>
        </p:spPr>
        <p:txBody>
          <a:bodyPr wrap="none" lIns="0" tIns="0" rIns="0" bIns="0" rtlCol="0" anchor="t"/>
          <a:lstStyle/>
          <a:p>
            <a:pPr algn="l" indent="0" marL="0">
              <a:lnSpc>
                <a:spcPct val="121000"/>
              </a:lnSpc>
              <a:buNone/>
            </a:pPr>
            <a:r>
              <a:rPr lang="en-US" sz="1200" dirty="0">
                <a:solidFill>
                  <a:srgbClr val="DAD1E6"/>
                </a:solidFill>
                <a:latin typeface="Fira Sans" pitchFamily="34" charset="0"/>
                <a:ea typeface="Fira Sans" pitchFamily="34" charset="-122"/>
                <a:cs typeface="Fira Sans" pitchFamily="34" charset="-120"/>
              </a:rPr>
              <a:t>Structured JSON to ELK</a:t>
            </a:r>
            <a:endParaRPr lang="en-US" sz="120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5247580"/>
            <a:ext cx="383868" cy="383877"/>
          </a:xfrm>
          <a:prstGeom prst="rect">
            <a:avLst/>
          </a:prstGeom>
        </p:spPr>
      </p:pic>
      <p:sp>
        <p:nvSpPr>
          <p:cNvPr id="12" name="Text 6"/>
          <p:cNvSpPr/>
          <p:nvPr/>
        </p:nvSpPr>
        <p:spPr>
          <a:xfrm>
            <a:off x="661475" y="5787430"/>
            <a:ext cx="6296860" cy="239911"/>
          </a:xfrm>
          <a:prstGeom prst="rect">
            <a:avLst/>
          </a:prstGeom>
          <a:noFill/>
          <a:ln/>
        </p:spPr>
        <p:txBody>
          <a:bodyPr wrap="none" lIns="0" tIns="0" rIns="0" bIns="0" rtlCol="0" anchor="t"/>
          <a:lstStyle/>
          <a:p>
            <a:pPr algn="l" indent="0" marL="0">
              <a:lnSpc>
                <a:spcPct val="104000"/>
              </a:lnSpc>
              <a:buNone/>
            </a:pPr>
            <a:r>
              <a:rPr lang="en-US" sz="1500" b="1" dirty="0">
                <a:solidFill>
                  <a:srgbClr val="DAD1E6"/>
                </a:solidFill>
                <a:latin typeface="Inconsolata Bold" pitchFamily="34" charset="0"/>
                <a:ea typeface="Inconsolata Bold" pitchFamily="34" charset="-122"/>
                <a:cs typeface="Inconsolata Bold" pitchFamily="34" charset="-120"/>
              </a:rPr>
              <a:t>Traces</a:t>
            </a:r>
            <a:endParaRPr lang="en-US" sz="1500" dirty="0"/>
          </a:p>
        </p:txBody>
      </p:sp>
      <p:sp>
        <p:nvSpPr>
          <p:cNvPr id="13" name="Text 7"/>
          <p:cNvSpPr/>
          <p:nvPr/>
        </p:nvSpPr>
        <p:spPr>
          <a:xfrm>
            <a:off x="661475" y="6102152"/>
            <a:ext cx="6296860" cy="222647"/>
          </a:xfrm>
          <a:prstGeom prst="rect">
            <a:avLst/>
          </a:prstGeom>
          <a:noFill/>
          <a:ln/>
        </p:spPr>
        <p:txBody>
          <a:bodyPr wrap="none" lIns="0" tIns="0" rIns="0" bIns="0" rtlCol="0" anchor="t"/>
          <a:lstStyle/>
          <a:p>
            <a:pPr algn="l" indent="0" marL="0">
              <a:lnSpc>
                <a:spcPct val="121000"/>
              </a:lnSpc>
              <a:buNone/>
            </a:pPr>
            <a:r>
              <a:rPr lang="en-US" sz="1200" dirty="0">
                <a:solidFill>
                  <a:srgbClr val="DAD1E6"/>
                </a:solidFill>
                <a:latin typeface="Fira Sans" pitchFamily="34" charset="0"/>
                <a:ea typeface="Fira Sans" pitchFamily="34" charset="-122"/>
                <a:cs typeface="Fira Sans" pitchFamily="34" charset="-120"/>
              </a:rPr>
              <a:t>OpenTelemetry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96542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F94CAF"/>
                </a:solidFill>
                <a:latin typeface="Inconsolata Bold" pitchFamily="34" charset="0"/>
                <a:ea typeface="Inconsolata Bold" pitchFamily="34" charset="-122"/>
                <a:cs typeface="Inconsolata Bold" pitchFamily="34" charset="-120"/>
              </a:rPr>
              <a:t>1. Database Management</a:t>
            </a:r>
            <a:endParaRPr lang="en-US" sz="3700" dirty="0"/>
          </a:p>
        </p:txBody>
      </p:sp>
      <p:sp>
        <p:nvSpPr>
          <p:cNvPr id="3" name="Shape 1"/>
          <p:cNvSpPr/>
          <p:nvPr/>
        </p:nvSpPr>
        <p:spPr>
          <a:xfrm>
            <a:off x="525350" y="2839541"/>
            <a:ext cx="5476043" cy="2053034"/>
          </a:xfrm>
          <a:prstGeom prst="roundRect">
            <a:avLst>
              <a:gd name="adj" fmla="val 1381"/>
            </a:avLst>
          </a:prstGeom>
          <a:solidFill>
            <a:srgbClr val="F94CAF"/>
          </a:solidFill>
          <a:ln/>
        </p:spPr>
      </p:sp>
      <p:sp>
        <p:nvSpPr>
          <p:cNvPr id="4" name="Text 2"/>
          <p:cNvSpPr/>
          <p:nvPr/>
        </p:nvSpPr>
        <p:spPr>
          <a:xfrm>
            <a:off x="714357" y="3028553"/>
            <a:ext cx="5098029" cy="295275"/>
          </a:xfrm>
          <a:prstGeom prst="rect">
            <a:avLst/>
          </a:prstGeom>
          <a:noFill/>
          <a:ln/>
        </p:spPr>
        <p:txBody>
          <a:bodyPr wrap="none" lIns="0" tIns="0" rIns="0" bIns="0" rtlCol="0" anchor="t"/>
          <a:lstStyle/>
          <a:p>
            <a:pPr algn="l" indent="0" marL="0">
              <a:lnSpc>
                <a:spcPct val="104000"/>
              </a:lnSpc>
              <a:buNone/>
            </a:pPr>
            <a:r>
              <a:rPr lang="en-US" sz="1850" b="1" dirty="0">
                <a:solidFill>
                  <a:srgbClr val="000000"/>
                </a:solidFill>
                <a:latin typeface="Inconsolata Bold" pitchFamily="34" charset="0"/>
                <a:ea typeface="Inconsolata Bold" pitchFamily="34" charset="-122"/>
                <a:cs typeface="Inconsolata Bold" pitchFamily="34" charset="-120"/>
              </a:rPr>
              <a:t>Schema Migrations</a:t>
            </a:r>
            <a:endParaRPr lang="en-US" sz="1850" dirty="0"/>
          </a:p>
        </p:txBody>
      </p:sp>
      <p:sp>
        <p:nvSpPr>
          <p:cNvPr id="5" name="Text 3"/>
          <p:cNvSpPr/>
          <p:nvPr/>
        </p:nvSpPr>
        <p:spPr>
          <a:xfrm>
            <a:off x="714357" y="3512840"/>
            <a:ext cx="50980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0000"/>
                </a:solidFill>
                <a:latin typeface="Fira Sans" pitchFamily="34" charset="0"/>
                <a:ea typeface="Fira Sans" pitchFamily="34" charset="-122"/>
                <a:cs typeface="Fira Sans" pitchFamily="34" charset="-120"/>
              </a:rPr>
              <a:t>Schema migrations must be backward-compatible to support zero-downtime deployments. All migrations are tested against a production snapshot in the staging environment before application.</a:t>
            </a:r>
            <a:endParaRPr lang="en-US" sz="1450" dirty="0"/>
          </a:p>
        </p:txBody>
      </p:sp>
      <p:sp>
        <p:nvSpPr>
          <p:cNvPr id="6" name="Text 4"/>
          <p:cNvSpPr/>
          <p:nvPr/>
        </p:nvSpPr>
        <p:spPr>
          <a:xfrm>
            <a:off x="6332776" y="3028553"/>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F94CAF"/>
                </a:solidFill>
                <a:latin typeface="Inconsolata Bold" pitchFamily="34" charset="0"/>
                <a:ea typeface="Inconsolata Bold" pitchFamily="34" charset="-122"/>
                <a:cs typeface="Inconsolata Bold" pitchFamily="34" charset="-120"/>
              </a:rPr>
              <a:t>Connection Pooling</a:t>
            </a:r>
            <a:endParaRPr lang="en-US" sz="1850" dirty="0"/>
          </a:p>
        </p:txBody>
      </p:sp>
      <p:sp>
        <p:nvSpPr>
          <p:cNvPr id="7" name="Text 5"/>
          <p:cNvSpPr/>
          <p:nvPr/>
        </p:nvSpPr>
        <p:spPr>
          <a:xfrm>
            <a:off x="6332776" y="3512840"/>
            <a:ext cx="5203794"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AD1E6"/>
                </a:solidFill>
                <a:latin typeface="Fira Sans" pitchFamily="34" charset="0"/>
                <a:ea typeface="Fira Sans" pitchFamily="34" charset="-122"/>
                <a:cs typeface="Fira Sans" pitchFamily="34" charset="-120"/>
              </a:rPr>
              <a:t>Connection pooling is mandatory for all database interactions. The default pool size is 20 connections per service instance. Connection leaks are detected automatically and trigger service restarts.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2026-09-03T06:08:03Z</dcterms:created>
  <dcterms:modified xsi:type="dcterms:W3CDTF">2026-09-03T06:08:03Z</dcterms:modified>
</cp:coreProperties>
</file>